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7" r:id="rId4"/>
    <p:sldId id="261" r:id="rId5"/>
    <p:sldId id="262" r:id="rId6"/>
    <p:sldId id="271" r:id="rId7"/>
    <p:sldId id="268" r:id="rId8"/>
    <p:sldId id="269" r:id="rId9"/>
    <p:sldId id="266" r:id="rId10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C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22" autoAdjust="0"/>
  </p:normalViewPr>
  <p:slideViewPr>
    <p:cSldViewPr>
      <p:cViewPr varScale="1">
        <p:scale>
          <a:sx n="72" d="100"/>
          <a:sy n="72" d="100"/>
        </p:scale>
        <p:origin x="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19481-A64C-455A-8C26-0C3D098D5E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0A502-EE4E-4612-92BE-55F152A51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39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02-EE4E-4612-92BE-55F152A515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15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3313" y="3544518"/>
            <a:ext cx="18483692" cy="2498927"/>
            <a:chOff x="0" y="0"/>
            <a:chExt cx="2917777" cy="6581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17777" cy="658154"/>
            </a:xfrm>
            <a:custGeom>
              <a:avLst/>
              <a:gdLst/>
              <a:ahLst/>
              <a:cxnLst/>
              <a:rect l="l" t="t" r="r" b="b"/>
              <a:pathLst>
                <a:path w="2917777" h="658154">
                  <a:moveTo>
                    <a:pt x="0" y="0"/>
                  </a:moveTo>
                  <a:lnTo>
                    <a:pt x="2917777" y="0"/>
                  </a:lnTo>
                  <a:lnTo>
                    <a:pt x="2917777" y="658154"/>
                  </a:lnTo>
                  <a:lnTo>
                    <a:pt x="0" y="658154"/>
                  </a:lnTo>
                  <a:close/>
                </a:path>
              </a:pathLst>
            </a:custGeom>
            <a:solidFill>
              <a:srgbClr val="A3B18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17777" cy="696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335000" y="2781300"/>
            <a:ext cx="8120714" cy="8866748"/>
          </a:xfrm>
          <a:custGeom>
            <a:avLst/>
            <a:gdLst/>
            <a:ahLst/>
            <a:cxnLst/>
            <a:rect l="l" t="t" r="r" b="b"/>
            <a:pathLst>
              <a:path w="9387284" h="10162148">
                <a:moveTo>
                  <a:pt x="0" y="0"/>
                </a:moveTo>
                <a:lnTo>
                  <a:pt x="9387284" y="0"/>
                </a:lnTo>
                <a:lnTo>
                  <a:pt x="9387284" y="10162148"/>
                </a:lnTo>
                <a:lnTo>
                  <a:pt x="0" y="10162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2B49D-7FF9-538F-16DF-471961E1F023}"/>
              </a:ext>
            </a:extLst>
          </p:cNvPr>
          <p:cNvSpPr txBox="1"/>
          <p:nvPr/>
        </p:nvSpPr>
        <p:spPr>
          <a:xfrm>
            <a:off x="1674495" y="543717"/>
            <a:ext cx="164592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TÀI NGUYÊN VÀ MÔI TRƯỜNG TPHCM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E71263-C6A5-5B17-A918-177BCE6F54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28215"/>
            <a:ext cx="1293495" cy="12934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7CC7CB-BC39-FFBC-1D95-1841D96DA5A7}"/>
              </a:ext>
            </a:extLst>
          </p:cNvPr>
          <p:cNvSpPr txBox="1"/>
          <p:nvPr/>
        </p:nvSpPr>
        <p:spPr>
          <a:xfrm>
            <a:off x="5943600" y="1591904"/>
            <a:ext cx="838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CÔNG NGHỆ THÔNG TIN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094E75-4D92-629D-BA97-58ACDF559258}"/>
              </a:ext>
            </a:extLst>
          </p:cNvPr>
          <p:cNvSpPr txBox="1"/>
          <p:nvPr/>
        </p:nvSpPr>
        <p:spPr>
          <a:xfrm>
            <a:off x="304800" y="3685381"/>
            <a:ext cx="138684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CHỨNG 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ABSENCE OF DEADLOCK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MÔ HÌNH LUỒNG NGHIỆP VỤ NHIỀU TRẠNG THÁI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3763AA-2E48-BCFA-C8D8-E97EDAD108EC}"/>
              </a:ext>
            </a:extLst>
          </p:cNvPr>
          <p:cNvSpPr txBox="1"/>
          <p:nvPr/>
        </p:nvSpPr>
        <p:spPr>
          <a:xfrm>
            <a:off x="6876332" y="6440633"/>
            <a:ext cx="60014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GDHD: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Th.S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Phạm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Huynh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SVTH: Trần Đức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MSSV: 1150080131</a:t>
            </a:r>
          </a:p>
          <a:p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11_ĐH_CNPM2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EAFD35-921F-BFCF-80BC-869FB6EF7B4C}"/>
              </a:ext>
            </a:extLst>
          </p:cNvPr>
          <p:cNvSpPr txBox="1"/>
          <p:nvPr/>
        </p:nvSpPr>
        <p:spPr>
          <a:xfrm>
            <a:off x="6584980" y="9343204"/>
            <a:ext cx="53071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TP.Hồ</a:t>
            </a:r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Chí Minh, </a:t>
            </a:r>
            <a:r>
              <a:rPr lang="en-US" sz="25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03 </a:t>
            </a:r>
            <a:r>
              <a:rPr lang="en-US" sz="25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1691117" y="2718081"/>
            <a:ext cx="21045917" cy="6527475"/>
          </a:xfrm>
          <a:custGeom>
            <a:avLst/>
            <a:gdLst/>
            <a:ahLst/>
            <a:cxnLst/>
            <a:rect l="l" t="t" r="r" b="b"/>
            <a:pathLst>
              <a:path w="2917777" h="478952">
                <a:moveTo>
                  <a:pt x="0" y="0"/>
                </a:moveTo>
                <a:lnTo>
                  <a:pt x="2917777" y="0"/>
                </a:lnTo>
                <a:lnTo>
                  <a:pt x="2917777" y="478952"/>
                </a:lnTo>
                <a:lnTo>
                  <a:pt x="0" y="478952"/>
                </a:lnTo>
                <a:close/>
              </a:path>
            </a:pathLst>
          </a:custGeom>
          <a:solidFill>
            <a:schemeClr val="bg1"/>
          </a:solidFill>
        </p:spPr>
      </p:sp>
      <p:sp>
        <p:nvSpPr>
          <p:cNvPr id="9" name="TextBox 9"/>
          <p:cNvSpPr txBox="1"/>
          <p:nvPr/>
        </p:nvSpPr>
        <p:spPr>
          <a:xfrm>
            <a:off x="26504" y="180076"/>
            <a:ext cx="9193695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23"/>
              </a:lnSpc>
            </a:pP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1. </a:t>
            </a:r>
            <a:r>
              <a:rPr lang="en-US" sz="8799" b="1" spc="-554" dirty="0" err="1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Mục</a:t>
            </a: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8799" b="1" spc="-554" dirty="0" err="1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tiêu</a:t>
            </a: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&amp; </a:t>
            </a:r>
            <a:r>
              <a:rPr lang="en-US" sz="8799" b="1" spc="-554" dirty="0" err="1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vấn</a:t>
            </a: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8799" b="1" spc="-554" dirty="0" err="1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đề</a:t>
            </a:r>
            <a:endParaRPr lang="en-US" sz="8799" b="1" spc="-554" dirty="0">
              <a:solidFill>
                <a:srgbClr val="344E41"/>
              </a:solidFill>
              <a:latin typeface="Times New Roman" panose="02020603050405020304" pitchFamily="18" charset="0"/>
              <a:ea typeface="Helvetica World"/>
              <a:cs typeface="Times New Roman" panose="02020603050405020304" pitchFamily="18" charset="0"/>
              <a:sym typeface="Helvetica World"/>
            </a:endParaRP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700D1BF1-263E-B36C-979E-469C9C2D7F74}"/>
              </a:ext>
            </a:extLst>
          </p:cNvPr>
          <p:cNvSpPr/>
          <p:nvPr/>
        </p:nvSpPr>
        <p:spPr>
          <a:xfrm>
            <a:off x="2133600" y="1479144"/>
            <a:ext cx="3429000" cy="859735"/>
          </a:xfrm>
          <a:prstGeom prst="flowChartTerminator">
            <a:avLst/>
          </a:prstGeom>
          <a:solidFill>
            <a:schemeClr val="accent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042A10-E2D3-494B-6445-56E588BDE220}"/>
              </a:ext>
            </a:extLst>
          </p:cNvPr>
          <p:cNvSpPr txBox="1"/>
          <p:nvPr/>
        </p:nvSpPr>
        <p:spPr>
          <a:xfrm>
            <a:off x="-152400" y="2662547"/>
            <a:ext cx="8610600" cy="6259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5760" lvl="1" indent="-372880" algn="just">
              <a:lnSpc>
                <a:spcPts val="4835"/>
              </a:lnSpc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r>
              <a:rPr lang="en-US" sz="3600" b="1" dirty="0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Deadlock </a:t>
            </a:r>
            <a:r>
              <a:rPr lang="en-US" sz="3600" b="1" dirty="0" err="1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là</a:t>
            </a:r>
            <a:r>
              <a:rPr lang="en-US" sz="3600" b="1" dirty="0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gì</a:t>
            </a:r>
            <a:r>
              <a:rPr lang="en-US" sz="3600" b="1" dirty="0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?</a:t>
            </a:r>
          </a:p>
          <a:p>
            <a:pPr marL="372880" lvl="1" algn="just">
              <a:lnSpc>
                <a:spcPts val="4835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Trạng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thái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thể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tục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-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có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transition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nào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có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thể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fire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</a:p>
          <a:p>
            <a:pPr marL="745760" lvl="1" indent="-372880" algn="just">
              <a:lnSpc>
                <a:spcPts val="4835"/>
              </a:lnSpc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r>
              <a:rPr lang="en-US" sz="3600" b="1" dirty="0" err="1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Tác</a:t>
            </a:r>
            <a:r>
              <a:rPr lang="en-US" sz="3600" b="1" dirty="0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hại</a:t>
            </a:r>
            <a:r>
              <a:rPr lang="en-US" sz="3600" b="1" dirty="0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bị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treo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hoàn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toàn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Giao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dịch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hoàn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thành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Khó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phát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khi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test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thủ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công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phí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sửa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lỗi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rất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5760" lvl="1" indent="-372880" algn="just">
              <a:lnSpc>
                <a:spcPts val="4835"/>
              </a:lnSpc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endParaRPr lang="en-US" sz="3454" dirty="0"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B8879DF1-1E1E-5076-6A89-CDDA737AFF69}"/>
              </a:ext>
            </a:extLst>
          </p:cNvPr>
          <p:cNvSpPr/>
          <p:nvPr/>
        </p:nvSpPr>
        <p:spPr>
          <a:xfrm>
            <a:off x="12077700" y="1400712"/>
            <a:ext cx="3429000" cy="859735"/>
          </a:xfrm>
          <a:prstGeom prst="flowChartTerminator">
            <a:avLst/>
          </a:prstGeom>
          <a:solidFill>
            <a:srgbClr val="07C907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CB117C-7CD5-CB3B-8165-2AD5ABC34114}"/>
              </a:ext>
            </a:extLst>
          </p:cNvPr>
          <p:cNvSpPr txBox="1"/>
          <p:nvPr/>
        </p:nvSpPr>
        <p:spPr>
          <a:xfrm>
            <a:off x="9372600" y="2662547"/>
            <a:ext cx="861060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5760" lvl="1" indent="-372880" algn="just">
              <a:lnSpc>
                <a:spcPts val="4835"/>
              </a:lnSpc>
              <a:spcBef>
                <a:spcPts val="1200"/>
              </a:spcBef>
              <a:spcAft>
                <a:spcPts val="1200"/>
              </a:spcAft>
              <a:buFont typeface="Arial"/>
              <a:buChar char="•"/>
            </a:pPr>
            <a:r>
              <a:rPr lang="en-US" sz="3600" b="1" dirty="0">
                <a:solidFill>
                  <a:srgbClr val="00E6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Absence of Deadlock:</a:t>
            </a:r>
          </a:p>
          <a:p>
            <a:pPr marL="372880" lvl="1" algn="just">
              <a:lnSpc>
                <a:spcPts val="4835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chứng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thức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rằng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KHÔNG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có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trạng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thái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deadlock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trong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toàn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bộ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gian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trạng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thái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</a:p>
          <a:p>
            <a:pPr marL="944380" lvl="1" indent="-571500" algn="just">
              <a:lnSpc>
                <a:spcPts val="4835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E6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Phương </a:t>
            </a:r>
            <a:r>
              <a:rPr lang="en-US" sz="3600" b="1" dirty="0" err="1">
                <a:solidFill>
                  <a:srgbClr val="00E6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pháp</a:t>
            </a:r>
            <a:r>
              <a:rPr lang="en-US" sz="3600" b="1" dirty="0">
                <a:solidFill>
                  <a:srgbClr val="00E6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</a:t>
            </a:r>
          </a:p>
          <a:p>
            <a:pPr marL="944380" lvl="1" indent="-571500" algn="just">
              <a:lnSpc>
                <a:spcPts val="4835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Mô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hóa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bằng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Petri Net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Duyệt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BFS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toàn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bộ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state space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Phát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deadlock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tự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động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Trực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hóa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đường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dẫn</a:t>
            </a:r>
            <a:r>
              <a:rPr lang="en-US" sz="3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lỗi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CDDAF1-84FE-C126-CF94-BAA2BCD96D3D}"/>
              </a:ext>
            </a:extLst>
          </p:cNvPr>
          <p:cNvSpPr/>
          <p:nvPr/>
        </p:nvSpPr>
        <p:spPr>
          <a:xfrm flipH="1">
            <a:off x="9098281" y="0"/>
            <a:ext cx="45719" cy="10287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1E245EE-C0D6-DC72-91E4-1BD114E9D4D0}"/>
              </a:ext>
            </a:extLst>
          </p:cNvPr>
          <p:cNvSpPr/>
          <p:nvPr/>
        </p:nvSpPr>
        <p:spPr>
          <a:xfrm>
            <a:off x="8610600" y="9791700"/>
            <a:ext cx="914400" cy="381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2F9BB-CC5D-75C9-EAF6-FAB609830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079CAE-D90F-AA23-C22B-A8C41B912565}"/>
              </a:ext>
            </a:extLst>
          </p:cNvPr>
          <p:cNvSpPr/>
          <p:nvPr/>
        </p:nvSpPr>
        <p:spPr>
          <a:xfrm>
            <a:off x="266700" y="3886200"/>
            <a:ext cx="17754600" cy="5867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	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B346573-03F3-09D5-F923-9A421304395C}"/>
              </a:ext>
            </a:extLst>
          </p:cNvPr>
          <p:cNvSpPr txBox="1"/>
          <p:nvPr/>
        </p:nvSpPr>
        <p:spPr>
          <a:xfrm>
            <a:off x="26504" y="180076"/>
            <a:ext cx="14375295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23"/>
              </a:lnSpc>
            </a:pP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2. </a:t>
            </a:r>
            <a:r>
              <a:rPr lang="en-US" sz="8799" b="1" spc="-554" dirty="0" err="1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Cơ</a:t>
            </a: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8799" b="1" spc="-554" dirty="0" err="1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sở</a:t>
            </a: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8799" b="1" spc="-554" dirty="0" err="1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lý</a:t>
            </a: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8799" b="1" spc="-554" dirty="0" err="1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thuyết</a:t>
            </a: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8799" b="1" spc="-554" dirty="0" err="1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về</a:t>
            </a:r>
            <a:r>
              <a:rPr lang="en-US" sz="8799" b="1" spc="-554" dirty="0">
                <a:solidFill>
                  <a:srgbClr val="344E41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Petri Net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B51A2BE-6D02-377E-2D69-1820A83EA38F}"/>
              </a:ext>
            </a:extLst>
          </p:cNvPr>
          <p:cNvSpPr/>
          <p:nvPr/>
        </p:nvSpPr>
        <p:spPr>
          <a:xfrm>
            <a:off x="8610600" y="9791700"/>
            <a:ext cx="914400" cy="381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4D7CA-40B6-A5C7-2949-1331D7FE68F6}"/>
              </a:ext>
            </a:extLst>
          </p:cNvPr>
          <p:cNvSpPr txBox="1"/>
          <p:nvPr/>
        </p:nvSpPr>
        <p:spPr>
          <a:xfrm>
            <a:off x="609600" y="1409700"/>
            <a:ext cx="1760220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9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Petri Net </a:t>
            </a:r>
            <a:r>
              <a:rPr lang="en-US" sz="49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49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9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49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Petri (Petri Net) 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tánđồng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2766477-A702-F035-F9C2-28B471DFAB80}"/>
              </a:ext>
            </a:extLst>
          </p:cNvPr>
          <p:cNvSpPr/>
          <p:nvPr/>
        </p:nvSpPr>
        <p:spPr>
          <a:xfrm>
            <a:off x="596900" y="4152900"/>
            <a:ext cx="1371600" cy="1295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16531-B032-6351-48EF-178F4BF7C5A9}"/>
              </a:ext>
            </a:extLst>
          </p:cNvPr>
          <p:cNvSpPr txBox="1"/>
          <p:nvPr/>
        </p:nvSpPr>
        <p:spPr>
          <a:xfrm>
            <a:off x="2298700" y="4381500"/>
            <a:ext cx="33401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Place(P)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A44D74-7BD2-0F0C-3116-270CEF8B5B70}"/>
              </a:ext>
            </a:extLst>
          </p:cNvPr>
          <p:cNvSpPr txBox="1"/>
          <p:nvPr/>
        </p:nvSpPr>
        <p:spPr>
          <a:xfrm>
            <a:off x="596900" y="5656431"/>
            <a:ext cx="7632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diễn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thái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hoặc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kiện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thống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Chứa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token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thể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tài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thái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0ED40E-9F32-A574-E3F1-58FE67B809D2}"/>
              </a:ext>
            </a:extLst>
          </p:cNvPr>
          <p:cNvSpPr/>
          <p:nvPr/>
        </p:nvSpPr>
        <p:spPr>
          <a:xfrm>
            <a:off x="9525000" y="4126215"/>
            <a:ext cx="762000" cy="1295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4FE6C6-E6B2-29BC-9057-2B2BD67E998D}"/>
              </a:ext>
            </a:extLst>
          </p:cNvPr>
          <p:cNvSpPr txBox="1"/>
          <p:nvPr/>
        </p:nvSpPr>
        <p:spPr>
          <a:xfrm>
            <a:off x="10515600" y="4381500"/>
            <a:ext cx="40386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Transition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AD5A78-DF74-761B-E3D3-806A49A29266}"/>
              </a:ext>
            </a:extLst>
          </p:cNvPr>
          <p:cNvSpPr txBox="1"/>
          <p:nvPr/>
        </p:nvSpPr>
        <p:spPr>
          <a:xfrm>
            <a:off x="9410700" y="5726549"/>
            <a:ext cx="828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Biểu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diễn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kiện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hoặc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hành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Fire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tất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cả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input places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đủ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token.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5144B05-1A34-5714-9979-082D859F31A7}"/>
              </a:ext>
            </a:extLst>
          </p:cNvPr>
          <p:cNvSpPr/>
          <p:nvPr/>
        </p:nvSpPr>
        <p:spPr>
          <a:xfrm>
            <a:off x="1130300" y="7244839"/>
            <a:ext cx="304800" cy="30480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F8890B-E4E6-4522-8A12-5B3C0CBDD544}"/>
              </a:ext>
            </a:extLst>
          </p:cNvPr>
          <p:cNvSpPr txBox="1"/>
          <p:nvPr/>
        </p:nvSpPr>
        <p:spPr>
          <a:xfrm>
            <a:off x="2133600" y="7004824"/>
            <a:ext cx="52705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 &amp; Marking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AC4AB2-687D-43E7-587D-2649655F14E6}"/>
              </a:ext>
            </a:extLst>
          </p:cNvPr>
          <p:cNvSpPr txBox="1"/>
          <p:nvPr/>
        </p:nvSpPr>
        <p:spPr>
          <a:xfrm>
            <a:off x="609600" y="8084458"/>
            <a:ext cx="74104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 =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tài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Marking =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bổ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token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tại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điểm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t,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thái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thống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2A328AC2-81ED-A46A-A020-C553E26167E2}"/>
              </a:ext>
            </a:extLst>
          </p:cNvPr>
          <p:cNvSpPr/>
          <p:nvPr/>
        </p:nvSpPr>
        <p:spPr>
          <a:xfrm>
            <a:off x="9525000" y="7321039"/>
            <a:ext cx="1104900" cy="2286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AC5D1D-4A62-9791-5057-A10FF3A73820}"/>
              </a:ext>
            </a:extLst>
          </p:cNvPr>
          <p:cNvSpPr txBox="1"/>
          <p:nvPr/>
        </p:nvSpPr>
        <p:spPr>
          <a:xfrm>
            <a:off x="10629900" y="7004824"/>
            <a:ext cx="5257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 &amp; Weight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8C5DF3-B24A-8941-13CF-BFF7A7DB12E8}"/>
              </a:ext>
            </a:extLst>
          </p:cNvPr>
          <p:cNvSpPr txBox="1"/>
          <p:nvPr/>
        </p:nvSpPr>
        <p:spPr>
          <a:xfrm>
            <a:off x="9525000" y="8085023"/>
            <a:ext cx="792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Cạnh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nối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Place↔Transition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Weight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token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cần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transition fire.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80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194BA47-0608-BC71-34E0-2696CE1C2B7D}"/>
              </a:ext>
            </a:extLst>
          </p:cNvPr>
          <p:cNvSpPr txBox="1"/>
          <p:nvPr/>
        </p:nvSpPr>
        <p:spPr>
          <a:xfrm>
            <a:off x="228600" y="88900"/>
            <a:ext cx="12039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Deadlock </a:t>
            </a:r>
            <a:r>
              <a:rPr lang="en-US" sz="5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BFS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60E3BCC-74F3-479E-3B32-1D5B2205A1C4}"/>
              </a:ext>
            </a:extLst>
          </p:cNvPr>
          <p:cNvSpPr/>
          <p:nvPr/>
        </p:nvSpPr>
        <p:spPr>
          <a:xfrm>
            <a:off x="8610600" y="9791700"/>
            <a:ext cx="914400" cy="381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23003AC-5DF1-EC8C-6B93-E0A8B42DBF86}"/>
              </a:ext>
            </a:extLst>
          </p:cNvPr>
          <p:cNvGrpSpPr/>
          <p:nvPr/>
        </p:nvGrpSpPr>
        <p:grpSpPr>
          <a:xfrm>
            <a:off x="609600" y="1447800"/>
            <a:ext cx="16459200" cy="1485900"/>
            <a:chOff x="609600" y="1447800"/>
            <a:chExt cx="12192000" cy="15621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DCC529E-2A84-1880-05FC-E69660953565}"/>
                </a:ext>
              </a:extLst>
            </p:cNvPr>
            <p:cNvSpPr/>
            <p:nvPr/>
          </p:nvSpPr>
          <p:spPr>
            <a:xfrm>
              <a:off x="609600" y="1485900"/>
              <a:ext cx="12192000" cy="1524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B9693BB-E921-3CCB-8F3C-A1B2B93F7C29}"/>
                </a:ext>
              </a:extLst>
            </p:cNvPr>
            <p:cNvSpPr/>
            <p:nvPr/>
          </p:nvSpPr>
          <p:spPr>
            <a:xfrm>
              <a:off x="1066800" y="1790700"/>
              <a:ext cx="838200" cy="8382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10692D9-4CC7-CB32-3066-3B922F0B1E74}"/>
                </a:ext>
              </a:extLst>
            </p:cNvPr>
            <p:cNvSpPr txBox="1"/>
            <p:nvPr/>
          </p:nvSpPr>
          <p:spPr>
            <a:xfrm>
              <a:off x="2451100" y="1447800"/>
              <a:ext cx="312420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800" b="1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Khởi</a:t>
              </a:r>
              <a:r>
                <a:rPr lang="en-US" sz="38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800" b="1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</a:t>
              </a:r>
              <a:endParaRPr lang="en-US" sz="3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9953097-DD5B-09AC-D30B-59F0C06CF98A}"/>
                </a:ext>
              </a:extLst>
            </p:cNvPr>
            <p:cNvSpPr txBox="1"/>
            <p:nvPr/>
          </p:nvSpPr>
          <p:spPr>
            <a:xfrm>
              <a:off x="2451100" y="2055793"/>
              <a:ext cx="917575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Bắt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đầu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từ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initial marking M₀.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Đưa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vào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queue BFS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và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tập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visited states</a:t>
              </a:r>
              <a:r>
                <a:rPr lang="en-US" sz="18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8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6060773-04D6-6B2F-043F-99FAB8D2C538}"/>
              </a:ext>
            </a:extLst>
          </p:cNvPr>
          <p:cNvGrpSpPr/>
          <p:nvPr/>
        </p:nvGrpSpPr>
        <p:grpSpPr>
          <a:xfrm>
            <a:off x="609600" y="3113379"/>
            <a:ext cx="16459200" cy="1485900"/>
            <a:chOff x="609600" y="1447800"/>
            <a:chExt cx="12192000" cy="15621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F83DAA8-6ABA-89B5-677A-67E577E87BED}"/>
                </a:ext>
              </a:extLst>
            </p:cNvPr>
            <p:cNvSpPr/>
            <p:nvPr/>
          </p:nvSpPr>
          <p:spPr>
            <a:xfrm>
              <a:off x="609600" y="1485900"/>
              <a:ext cx="12192000" cy="1524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23E2540-EDAB-E2F9-51BF-5BDD94A5012B}"/>
                </a:ext>
              </a:extLst>
            </p:cNvPr>
            <p:cNvSpPr/>
            <p:nvPr/>
          </p:nvSpPr>
          <p:spPr>
            <a:xfrm>
              <a:off x="1066800" y="1790700"/>
              <a:ext cx="838200" cy="838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4B9A55B-6220-CC5E-516E-FDCA53F9E4A4}"/>
                </a:ext>
              </a:extLst>
            </p:cNvPr>
            <p:cNvSpPr txBox="1"/>
            <p:nvPr/>
          </p:nvSpPr>
          <p:spPr>
            <a:xfrm>
              <a:off x="2451100" y="1447800"/>
              <a:ext cx="3124200" cy="711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800" b="1" dirty="0" err="1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Duyệt</a:t>
              </a:r>
              <a:r>
                <a:rPr lang="en-US" sz="3800" b="1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800" b="1" dirty="0" err="1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3800" b="1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800" b="1" dirty="0" err="1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endParaRPr lang="en-US" sz="3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1025D4A-1424-9A22-988B-A5B6A47226D0}"/>
                </a:ext>
              </a:extLst>
            </p:cNvPr>
            <p:cNvSpPr txBox="1"/>
            <p:nvPr/>
          </p:nvSpPr>
          <p:spPr>
            <a:xfrm>
              <a:off x="2451100" y="2055793"/>
              <a:ext cx="9175750" cy="550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Lấy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marking M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từ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queue.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Tìm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tất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cả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enabled transitions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tại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M.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EA072B3-BE04-4E29-EC7D-4A7528B71F2C}"/>
              </a:ext>
            </a:extLst>
          </p:cNvPr>
          <p:cNvGrpSpPr/>
          <p:nvPr/>
        </p:nvGrpSpPr>
        <p:grpSpPr>
          <a:xfrm>
            <a:off x="609600" y="4786960"/>
            <a:ext cx="16459200" cy="1532442"/>
            <a:chOff x="609600" y="1447800"/>
            <a:chExt cx="12192000" cy="1611029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7DE00A9-1079-ED40-CFEA-3D855ADD3BDE}"/>
                </a:ext>
              </a:extLst>
            </p:cNvPr>
            <p:cNvSpPr/>
            <p:nvPr/>
          </p:nvSpPr>
          <p:spPr>
            <a:xfrm>
              <a:off x="609600" y="1485900"/>
              <a:ext cx="12192000" cy="15240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BC8F7BE-2BB6-7733-89F2-F88AB12EBBD0}"/>
                </a:ext>
              </a:extLst>
            </p:cNvPr>
            <p:cNvSpPr/>
            <p:nvPr/>
          </p:nvSpPr>
          <p:spPr>
            <a:xfrm>
              <a:off x="1066800" y="1790700"/>
              <a:ext cx="838200" cy="8382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DEC9039-957B-FD71-17DB-BF26D99B0EDC}"/>
                </a:ext>
              </a:extLst>
            </p:cNvPr>
            <p:cNvSpPr txBox="1"/>
            <p:nvPr/>
          </p:nvSpPr>
          <p:spPr>
            <a:xfrm>
              <a:off x="2451100" y="1447800"/>
              <a:ext cx="3124200" cy="711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800" b="1" dirty="0" err="1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</a:t>
              </a:r>
              <a:r>
                <a:rPr lang="en-US" sz="38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800" b="1" dirty="0" err="1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</a:t>
              </a:r>
              <a:r>
                <a:rPr lang="en-US" sz="38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Deadlock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38072CC-3F19-2B1B-CF1D-B9DB6CC280A4}"/>
                </a:ext>
              </a:extLst>
            </p:cNvPr>
            <p:cNvSpPr txBox="1"/>
            <p:nvPr/>
          </p:nvSpPr>
          <p:spPr>
            <a:xfrm>
              <a:off x="2451100" y="2055793"/>
              <a:ext cx="9175750" cy="1003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Nếu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không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có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transition enabled VÀ M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không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phải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final state → DEADLOCK DETECTED!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BA99510-E9E0-08C0-344F-91B528CBFCB8}"/>
              </a:ext>
            </a:extLst>
          </p:cNvPr>
          <p:cNvGrpSpPr/>
          <p:nvPr/>
        </p:nvGrpSpPr>
        <p:grpSpPr>
          <a:xfrm>
            <a:off x="609600" y="6447507"/>
            <a:ext cx="16459200" cy="1485900"/>
            <a:chOff x="609600" y="1447800"/>
            <a:chExt cx="12192000" cy="156210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73EAF4F-0528-F93F-4DA0-B5ED4890C4F6}"/>
                </a:ext>
              </a:extLst>
            </p:cNvPr>
            <p:cNvSpPr/>
            <p:nvPr/>
          </p:nvSpPr>
          <p:spPr>
            <a:xfrm>
              <a:off x="609600" y="1485900"/>
              <a:ext cx="12192000" cy="1524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D1BA2D8-603C-8B6B-A9CF-B19647312787}"/>
                </a:ext>
              </a:extLst>
            </p:cNvPr>
            <p:cNvSpPr/>
            <p:nvPr/>
          </p:nvSpPr>
          <p:spPr>
            <a:xfrm>
              <a:off x="1066800" y="1790700"/>
              <a:ext cx="838200" cy="8382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ADECAC2-F21A-5C86-80B2-6883A58CA8D9}"/>
                </a:ext>
              </a:extLst>
            </p:cNvPr>
            <p:cNvSpPr txBox="1"/>
            <p:nvPr/>
          </p:nvSpPr>
          <p:spPr>
            <a:xfrm>
              <a:off x="2451100" y="1447800"/>
              <a:ext cx="3124200" cy="711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800" b="1" dirty="0" err="1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Mở</a:t>
              </a:r>
              <a:r>
                <a:rPr lang="en-US" sz="38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800" b="1" dirty="0" err="1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rộng</a:t>
              </a:r>
              <a:endParaRPr lang="en-US" sz="3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CD72337-1E61-222B-2272-5EA2096F3B82}"/>
                </a:ext>
              </a:extLst>
            </p:cNvPr>
            <p:cNvSpPr txBox="1"/>
            <p:nvPr/>
          </p:nvSpPr>
          <p:spPr>
            <a:xfrm>
              <a:off x="2451100" y="2055793"/>
              <a:ext cx="9175750" cy="550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Fire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từng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transition t → marking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mới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M'.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Nếu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M'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chưa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visited →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thêm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vào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queue.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F4EB053-7461-A9A8-8192-4EA345FEFB93}"/>
              </a:ext>
            </a:extLst>
          </p:cNvPr>
          <p:cNvGrpSpPr/>
          <p:nvPr/>
        </p:nvGrpSpPr>
        <p:grpSpPr>
          <a:xfrm>
            <a:off x="596900" y="8060009"/>
            <a:ext cx="16459200" cy="1532442"/>
            <a:chOff x="609600" y="1447800"/>
            <a:chExt cx="12192000" cy="1611029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A66DD28-8932-60D5-06B3-AA51860D24B8}"/>
                </a:ext>
              </a:extLst>
            </p:cNvPr>
            <p:cNvSpPr/>
            <p:nvPr/>
          </p:nvSpPr>
          <p:spPr>
            <a:xfrm>
              <a:off x="609600" y="1485900"/>
              <a:ext cx="12192000" cy="1524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0B79403-8F6D-2196-68D5-AA376B2B8B31}"/>
                </a:ext>
              </a:extLst>
            </p:cNvPr>
            <p:cNvSpPr/>
            <p:nvPr/>
          </p:nvSpPr>
          <p:spPr>
            <a:xfrm>
              <a:off x="1066800" y="1790700"/>
              <a:ext cx="838200" cy="8382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D7B18F2-71A9-C08F-A454-F95EB98B6C27}"/>
                </a:ext>
              </a:extLst>
            </p:cNvPr>
            <p:cNvSpPr txBox="1"/>
            <p:nvPr/>
          </p:nvSpPr>
          <p:spPr>
            <a:xfrm>
              <a:off x="2451100" y="1447800"/>
              <a:ext cx="3124200" cy="711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800" b="1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38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800" b="1" dirty="0" err="1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luận</a:t>
              </a:r>
              <a:endParaRPr lang="en-US" sz="3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14FAB5E-DACD-3230-5552-257ACB66A725}"/>
                </a:ext>
              </a:extLst>
            </p:cNvPr>
            <p:cNvSpPr txBox="1"/>
            <p:nvPr/>
          </p:nvSpPr>
          <p:spPr>
            <a:xfrm>
              <a:off x="2451100" y="2055793"/>
              <a:ext cx="9175750" cy="1003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Nếu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duyệt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hết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không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gian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trạng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thái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mà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không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gặp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deadlock → SAFE (Absence of Deadlock).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82AC47C-4AEB-579F-6939-EC2680085D1E}"/>
              </a:ext>
            </a:extLst>
          </p:cNvPr>
          <p:cNvSpPr txBox="1"/>
          <p:nvPr/>
        </p:nvSpPr>
        <p:spPr>
          <a:xfrm>
            <a:off x="152400" y="1657"/>
            <a:ext cx="13563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4.DEMO MÔ HÌNH DUYỆT ĐƠN HÀNG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3CDA23C-62AC-3B36-7C5E-CB3606A14E79}"/>
              </a:ext>
            </a:extLst>
          </p:cNvPr>
          <p:cNvSpPr/>
          <p:nvPr/>
        </p:nvSpPr>
        <p:spPr>
          <a:xfrm>
            <a:off x="8610600" y="9791700"/>
            <a:ext cx="914400" cy="381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23A56-0B10-3EE1-CB8E-5466E32B4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57300"/>
            <a:ext cx="16904045" cy="52343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084ED0-5DC8-5F2D-C060-611DEA68E748}"/>
              </a:ext>
            </a:extLst>
          </p:cNvPr>
          <p:cNvSpPr/>
          <p:nvPr/>
        </p:nvSpPr>
        <p:spPr>
          <a:xfrm>
            <a:off x="5708822" y="6802918"/>
            <a:ext cx="6553200" cy="26774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7C9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deadlock</a:t>
            </a:r>
            <a:r>
              <a:rPr lang="en-US" sz="2800" b="1" dirty="0">
                <a:solidFill>
                  <a:srgbClr val="00E6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Mọi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thái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đều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reach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final state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Approved → ship → complete ✓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Rejected → final ✓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BFS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xác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SAFE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83476-8FC0-D0B6-FD96-0CECACE12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2BB9F9-4269-AF27-1965-3988F976D415}"/>
              </a:ext>
            </a:extLst>
          </p:cNvPr>
          <p:cNvSpPr txBox="1"/>
          <p:nvPr/>
        </p:nvSpPr>
        <p:spPr>
          <a:xfrm>
            <a:off x="152400" y="1657"/>
            <a:ext cx="13563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4.DEMO MÔ HÌNH DUYỆT ĐƠN HÀNG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D768F6D-A79C-D5D4-C942-B53E446EB9C3}"/>
              </a:ext>
            </a:extLst>
          </p:cNvPr>
          <p:cNvSpPr/>
          <p:nvPr/>
        </p:nvSpPr>
        <p:spPr>
          <a:xfrm>
            <a:off x="8610600" y="9791700"/>
            <a:ext cx="914400" cy="381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993F93-0C1A-7347-7E56-CA8B52DDC330}"/>
              </a:ext>
            </a:extLst>
          </p:cNvPr>
          <p:cNvSpPr/>
          <p:nvPr/>
        </p:nvSpPr>
        <p:spPr>
          <a:xfrm>
            <a:off x="5708822" y="6802918"/>
            <a:ext cx="6553200" cy="26774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Variant </a:t>
            </a:r>
            <a:r>
              <a:rPr lang="en-US" sz="2800" b="1" dirty="0" err="1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solidFill>
                  <a:srgbClr val="FF52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deadlock
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Thêm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place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gian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blocked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Checked → blocked (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thoát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BFS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DEADLOCK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Đường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dẫn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start→receive→check→blocked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44B47-1702-6BD5-8EBD-D9A019436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04389"/>
            <a:ext cx="16980098" cy="475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5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A10A2-94D7-6D3E-E62D-BC2BAB48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F19816C-6730-9580-EB72-1602C1C4FD56}"/>
              </a:ext>
            </a:extLst>
          </p:cNvPr>
          <p:cNvSpPr/>
          <p:nvPr/>
        </p:nvSpPr>
        <p:spPr>
          <a:xfrm>
            <a:off x="8610600" y="9791700"/>
            <a:ext cx="914400" cy="381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B4DB62-221E-29FA-04FC-04A9F9F31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003286"/>
              </p:ext>
            </p:extLst>
          </p:nvPr>
        </p:nvGraphicFramePr>
        <p:xfrm>
          <a:off x="1828800" y="2857500"/>
          <a:ext cx="13868402" cy="66293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2868">
                  <a:extLst>
                    <a:ext uri="{9D8B030D-6E8A-4147-A177-3AD203B41FA5}">
                      <a16:colId xmlns:a16="http://schemas.microsoft.com/office/drawing/2014/main" val="2354396035"/>
                    </a:ext>
                  </a:extLst>
                </a:gridCol>
                <a:gridCol w="1568599">
                  <a:extLst>
                    <a:ext uri="{9D8B030D-6E8A-4147-A177-3AD203B41FA5}">
                      <a16:colId xmlns:a16="http://schemas.microsoft.com/office/drawing/2014/main" val="4058152527"/>
                    </a:ext>
                  </a:extLst>
                </a:gridCol>
                <a:gridCol w="3597816">
                  <a:extLst>
                    <a:ext uri="{9D8B030D-6E8A-4147-A177-3AD203B41FA5}">
                      <a16:colId xmlns:a16="http://schemas.microsoft.com/office/drawing/2014/main" val="3918308166"/>
                    </a:ext>
                  </a:extLst>
                </a:gridCol>
                <a:gridCol w="2614331">
                  <a:extLst>
                    <a:ext uri="{9D8B030D-6E8A-4147-A177-3AD203B41FA5}">
                      <a16:colId xmlns:a16="http://schemas.microsoft.com/office/drawing/2014/main" val="1340065625"/>
                    </a:ext>
                  </a:extLst>
                </a:gridCol>
                <a:gridCol w="2614331">
                  <a:extLst>
                    <a:ext uri="{9D8B030D-6E8A-4147-A177-3AD203B41FA5}">
                      <a16:colId xmlns:a16="http://schemas.microsoft.com/office/drawing/2014/main" val="4293988597"/>
                    </a:ext>
                  </a:extLst>
                </a:gridCol>
                <a:gridCol w="2290650">
                  <a:extLst>
                    <a:ext uri="{9D8B030D-6E8A-4147-A177-3AD203B41FA5}">
                      <a16:colId xmlns:a16="http://schemas.microsoft.com/office/drawing/2014/main" val="978636957"/>
                    </a:ext>
                  </a:extLst>
                </a:gridCol>
                <a:gridCol w="659807">
                  <a:extLst>
                    <a:ext uri="{9D8B030D-6E8A-4147-A177-3AD203B41FA5}">
                      <a16:colId xmlns:a16="http://schemas.microsoft.com/office/drawing/2014/main" val="1367055799"/>
                    </a:ext>
                  </a:extLst>
                </a:gridCol>
              </a:tblGrid>
              <a:tr h="8343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BB01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Equivalence Partitioning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500" u="none" strike="noStrike" dirty="0">
                          <a:effectLst/>
                        </a:rPr>
                        <a:t>Duyệt đơn hàng — không deadlock</a:t>
                      </a:r>
                      <a:endParaRPr lang="vi-V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order_approval_no_deadlock()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False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False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PASS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4" marR="5244" marT="5244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340686"/>
                  </a:ext>
                </a:extLst>
              </a:tr>
              <a:tr h="8343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BB02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Equivalence Partitioning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 dirty="0" err="1">
                          <a:effectLst/>
                        </a:rPr>
                        <a:t>Xử</a:t>
                      </a:r>
                      <a:r>
                        <a:rPr lang="en-US" sz="1500" u="none" strike="noStrike" dirty="0">
                          <a:effectLst/>
                        </a:rPr>
                        <a:t> </a:t>
                      </a:r>
                      <a:r>
                        <a:rPr lang="en-US" sz="1500" u="none" strike="noStrike" dirty="0" err="1">
                          <a:effectLst/>
                        </a:rPr>
                        <a:t>lý</a:t>
                      </a:r>
                      <a:r>
                        <a:rPr lang="en-US" sz="1500" u="none" strike="noStrike" dirty="0">
                          <a:effectLst/>
                        </a:rPr>
                        <a:t> song </a:t>
                      </a:r>
                      <a:r>
                        <a:rPr lang="en-US" sz="1500" u="none" strike="noStrike" dirty="0" err="1">
                          <a:effectLst/>
                        </a:rPr>
                        <a:t>song</a:t>
                      </a:r>
                      <a:r>
                        <a:rPr lang="en-US" sz="1500" u="none" strike="noStrike" dirty="0">
                          <a:effectLst/>
                        </a:rPr>
                        <a:t> — </a:t>
                      </a:r>
                      <a:r>
                        <a:rPr lang="en-US" sz="1500" u="none" strike="noStrike" dirty="0" err="1">
                          <a:effectLst/>
                        </a:rPr>
                        <a:t>không</a:t>
                      </a:r>
                      <a:r>
                        <a:rPr lang="en-US" sz="1500" u="none" strike="noStrike" dirty="0">
                          <a:effectLst/>
                        </a:rPr>
                        <a:t> deadlock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parallel_no_deadlock()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False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False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PASS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4" marR="5244" marT="5244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466016"/>
                  </a:ext>
                </a:extLst>
              </a:tr>
              <a:tr h="8343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BB03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Equivalence Partitioning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Dining Philosophers — không deadlock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 dirty="0" err="1">
                          <a:effectLst/>
                        </a:rPr>
                        <a:t>dining_philosophers_no_deadlock</a:t>
                      </a:r>
                      <a:r>
                        <a:rPr lang="en-US" sz="1500" u="none" strike="noStrike" dirty="0">
                          <a:effectLst/>
                        </a:rPr>
                        <a:t>()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False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False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PASS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4" marR="5244" marT="5244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695946"/>
                  </a:ext>
                </a:extLst>
              </a:tr>
              <a:tr h="8343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BB04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Equivalence Partitioning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Ngân hàng — không deadlock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 dirty="0" err="1">
                          <a:effectLst/>
                        </a:rPr>
                        <a:t>bank_process_no_deadlock</a:t>
                      </a:r>
                      <a:r>
                        <a:rPr lang="en-US" sz="1500" u="none" strike="noStrike" dirty="0">
                          <a:effectLst/>
                        </a:rPr>
                        <a:t>()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False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False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PASS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4" marR="5244" marT="5244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33565"/>
                  </a:ext>
                </a:extLst>
              </a:tr>
              <a:tr h="8343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BB05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Equivalence Partitioning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500" u="none" strike="noStrike">
                          <a:effectLst/>
                        </a:rPr>
                        <a:t>Duyệt đơn hàng — có deadlock</a:t>
                      </a:r>
                      <a:endParaRPr lang="vi-V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order_approval_with_deadlock()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True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True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PASS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4" marR="5244" marT="5244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609084"/>
                  </a:ext>
                </a:extLst>
              </a:tr>
              <a:tr h="8343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BB06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Equivalence Partitioning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Xử lý song song — có deadlock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parallel_with_deadlock()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True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True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PASS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4" marR="5244" marT="5244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73668"/>
                  </a:ext>
                </a:extLst>
              </a:tr>
              <a:tr h="8343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BB07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Equivalence Partitioning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Dining Philosophers — </a:t>
                      </a:r>
                      <a:r>
                        <a:rPr lang="en-US" sz="1500" u="none" strike="noStrike" dirty="0" err="1">
                          <a:effectLst/>
                        </a:rPr>
                        <a:t>có</a:t>
                      </a:r>
                      <a:r>
                        <a:rPr lang="en-US" sz="1500" u="none" strike="noStrike" dirty="0">
                          <a:effectLst/>
                        </a:rPr>
                        <a:t> deadlock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 dirty="0" err="1">
                          <a:effectLst/>
                        </a:rPr>
                        <a:t>dining_philosophers_deadlock</a:t>
                      </a:r>
                      <a:r>
                        <a:rPr lang="en-US" sz="1500" u="none" strike="noStrike" dirty="0">
                          <a:effectLst/>
                        </a:rPr>
                        <a:t>()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True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has_deadlock = True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44" marR="5244" marT="524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PASS</a:t>
                      </a:r>
                      <a:endParaRPr lang="en-US" sz="15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4" marR="5244" marT="5244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004387"/>
                  </a:ext>
                </a:extLst>
              </a:tr>
              <a:tr h="788858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en-US" sz="15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test case </a:t>
                      </a:r>
                      <a:r>
                        <a:rPr lang="en-US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khác</a:t>
                      </a: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  <a:r>
                        <a:rPr lang="en-US" sz="1500" b="0" i="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PASS</a:t>
                      </a:r>
                      <a:endParaRPr lang="en-US" sz="1500" b="1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44" marR="5244" marT="5244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244" marR="5244" marT="5244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244" marR="5244" marT="5244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244" marR="5244" marT="5244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244" marR="5244" marT="5244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244" marR="5244" marT="5244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244" marR="5244" marT="5244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5988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95883B-8232-682E-83BF-D9A747BCD36A}"/>
              </a:ext>
            </a:extLst>
          </p:cNvPr>
          <p:cNvSpPr txBox="1"/>
          <p:nvPr/>
        </p:nvSpPr>
        <p:spPr>
          <a:xfrm>
            <a:off x="381000" y="430769"/>
            <a:ext cx="14478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50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5.KẾT QUẢ KIỂM THỬ - 20 TEST CASES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2BC1B4-4F47-71D0-CE96-9E57B34C4CD2}"/>
              </a:ext>
            </a:extLst>
          </p:cNvPr>
          <p:cNvGrpSpPr/>
          <p:nvPr/>
        </p:nvGrpSpPr>
        <p:grpSpPr>
          <a:xfrm>
            <a:off x="1752600" y="1265873"/>
            <a:ext cx="2590800" cy="1286826"/>
            <a:chOff x="457200" y="822960"/>
            <a:chExt cx="1828800" cy="1005840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36367629-1F45-12BB-DEB1-30C423521160}"/>
                </a:ext>
              </a:extLst>
            </p:cNvPr>
            <p:cNvSpPr/>
            <p:nvPr/>
          </p:nvSpPr>
          <p:spPr>
            <a:xfrm>
              <a:off x="457200" y="822960"/>
              <a:ext cx="1828800" cy="1005840"/>
            </a:xfrm>
            <a:prstGeom prst="rect">
              <a:avLst/>
            </a:prstGeom>
            <a:solidFill>
              <a:srgbClr val="162032"/>
            </a:solidFill>
            <a:ln w="19050">
              <a:solidFill>
                <a:srgbClr val="00D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C0739854-B5A4-1FAB-B53D-FC862A827811}"/>
                </a:ext>
              </a:extLst>
            </p:cNvPr>
            <p:cNvSpPr/>
            <p:nvPr/>
          </p:nvSpPr>
          <p:spPr>
            <a:xfrm>
              <a:off x="457200" y="86868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00D4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</a:t>
              </a:r>
              <a:endParaRPr lang="en-US" sz="3600" dirty="0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81798C7B-473A-EDFB-C617-6878A2D65943}"/>
                </a:ext>
              </a:extLst>
            </p:cNvPr>
            <p:cNvSpPr/>
            <p:nvPr/>
          </p:nvSpPr>
          <p:spPr>
            <a:xfrm>
              <a:off x="457200" y="141732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5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Tests</a:t>
              </a:r>
              <a:endParaRPr lang="en-US" sz="25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C7475CB-71A2-C61C-806A-0E9E95584C48}"/>
              </a:ext>
            </a:extLst>
          </p:cNvPr>
          <p:cNvGrpSpPr/>
          <p:nvPr/>
        </p:nvGrpSpPr>
        <p:grpSpPr>
          <a:xfrm>
            <a:off x="5638800" y="1265873"/>
            <a:ext cx="2590800" cy="1286826"/>
            <a:chOff x="2560320" y="822960"/>
            <a:chExt cx="1828800" cy="1005840"/>
          </a:xfrm>
        </p:grpSpPr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F393A822-ACA1-8225-84E1-AAF95E0A0DF3}"/>
                </a:ext>
              </a:extLst>
            </p:cNvPr>
            <p:cNvSpPr/>
            <p:nvPr/>
          </p:nvSpPr>
          <p:spPr>
            <a:xfrm>
              <a:off x="2560320" y="822960"/>
              <a:ext cx="1828800" cy="1005840"/>
            </a:xfrm>
            <a:prstGeom prst="rect">
              <a:avLst/>
            </a:prstGeom>
            <a:solidFill>
              <a:srgbClr val="162032"/>
            </a:solidFill>
            <a:ln w="19050">
              <a:solidFill>
                <a:srgbClr val="00E67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EDFA95D8-E093-943B-872E-937EAB4B63C8}"/>
                </a:ext>
              </a:extLst>
            </p:cNvPr>
            <p:cNvSpPr/>
            <p:nvPr/>
          </p:nvSpPr>
          <p:spPr>
            <a:xfrm>
              <a:off x="2560320" y="86868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00E67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</a:t>
              </a:r>
              <a:endParaRPr lang="en-US" sz="3600" dirty="0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1ECAE17E-E9C7-6D4E-91A0-DD604F8EB23B}"/>
                </a:ext>
              </a:extLst>
            </p:cNvPr>
            <p:cNvSpPr/>
            <p:nvPr/>
          </p:nvSpPr>
          <p:spPr>
            <a:xfrm>
              <a:off x="2560320" y="141732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5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Passed</a:t>
              </a:r>
              <a:endParaRPr lang="en-US" sz="25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D796B3-B089-D5B5-A5FE-169593852CE0}"/>
              </a:ext>
            </a:extLst>
          </p:cNvPr>
          <p:cNvGrpSpPr/>
          <p:nvPr/>
        </p:nvGrpSpPr>
        <p:grpSpPr>
          <a:xfrm>
            <a:off x="9499600" y="1265873"/>
            <a:ext cx="2438398" cy="1286826"/>
            <a:chOff x="4663440" y="822960"/>
            <a:chExt cx="1828800" cy="1005840"/>
          </a:xfrm>
        </p:grpSpPr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2848F285-AB58-8873-D9FB-C34804621093}"/>
                </a:ext>
              </a:extLst>
            </p:cNvPr>
            <p:cNvSpPr/>
            <p:nvPr/>
          </p:nvSpPr>
          <p:spPr>
            <a:xfrm>
              <a:off x="4663440" y="822960"/>
              <a:ext cx="1828800" cy="1005840"/>
            </a:xfrm>
            <a:prstGeom prst="rect">
              <a:avLst/>
            </a:prstGeom>
            <a:solidFill>
              <a:srgbClr val="162032"/>
            </a:solidFill>
            <a:ln w="19050">
              <a:solidFill>
                <a:srgbClr val="FF525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EA370854-6439-5EF7-0284-95B4D0CB463E}"/>
                </a:ext>
              </a:extLst>
            </p:cNvPr>
            <p:cNvSpPr/>
            <p:nvPr/>
          </p:nvSpPr>
          <p:spPr>
            <a:xfrm>
              <a:off x="4663440" y="86868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52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3600" dirty="0"/>
            </a:p>
          </p:txBody>
        </p:sp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DE6846AE-C66F-D8FB-AF51-D187F09C3179}"/>
                </a:ext>
              </a:extLst>
            </p:cNvPr>
            <p:cNvSpPr/>
            <p:nvPr/>
          </p:nvSpPr>
          <p:spPr>
            <a:xfrm>
              <a:off x="4663440" y="141732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5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Failed</a:t>
              </a:r>
              <a:endParaRPr lang="en-US" sz="25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A5F8C7E-2A72-D286-A42A-A42D7346B2D7}"/>
              </a:ext>
            </a:extLst>
          </p:cNvPr>
          <p:cNvGrpSpPr/>
          <p:nvPr/>
        </p:nvGrpSpPr>
        <p:grpSpPr>
          <a:xfrm>
            <a:off x="13207998" y="1291589"/>
            <a:ext cx="2413002" cy="1261109"/>
            <a:chOff x="6766560" y="822960"/>
            <a:chExt cx="1828800" cy="1005840"/>
          </a:xfrm>
        </p:grpSpPr>
        <p:sp>
          <p:nvSpPr>
            <p:cNvPr id="20" name="Shape 12">
              <a:extLst>
                <a:ext uri="{FF2B5EF4-FFF2-40B4-BE49-F238E27FC236}">
                  <a16:creationId xmlns:a16="http://schemas.microsoft.com/office/drawing/2014/main" id="{DEB676A8-B6B4-D704-EF5A-5AAE36216686}"/>
                </a:ext>
              </a:extLst>
            </p:cNvPr>
            <p:cNvSpPr/>
            <p:nvPr/>
          </p:nvSpPr>
          <p:spPr>
            <a:xfrm>
              <a:off x="6766560" y="822960"/>
              <a:ext cx="1828800" cy="1005840"/>
            </a:xfrm>
            <a:prstGeom prst="rect">
              <a:avLst/>
            </a:prstGeom>
            <a:solidFill>
              <a:srgbClr val="162032"/>
            </a:solidFill>
            <a:ln w="19050">
              <a:solidFill>
                <a:srgbClr val="FFA72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D620194C-9E65-AC38-2765-0ABD9F320FFF}"/>
                </a:ext>
              </a:extLst>
            </p:cNvPr>
            <p:cNvSpPr/>
            <p:nvPr/>
          </p:nvSpPr>
          <p:spPr>
            <a:xfrm>
              <a:off x="6766560" y="86868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A7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</a:t>
              </a:r>
              <a:endParaRPr lang="en-US" sz="3600" dirty="0"/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34FA6A0B-1452-13B4-545F-1635CA48385C}"/>
                </a:ext>
              </a:extLst>
            </p:cNvPr>
            <p:cNvSpPr/>
            <p:nvPr/>
          </p:nvSpPr>
          <p:spPr>
            <a:xfrm>
              <a:off x="6766560" y="141732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5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 Rate</a:t>
              </a:r>
              <a:endParaRPr lang="en-US" sz="25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483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66FA4-B1F2-29F9-A05E-B064F6D0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F7D012E9-4CC7-595D-85C8-6BDBC8A14DEA}"/>
              </a:ext>
            </a:extLst>
          </p:cNvPr>
          <p:cNvSpPr txBox="1"/>
          <p:nvPr/>
        </p:nvSpPr>
        <p:spPr>
          <a:xfrm>
            <a:off x="869674" y="139700"/>
            <a:ext cx="17114502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b="1" kern="0" spc="2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88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9E7E988B-D91A-E5E0-F5FB-C8F49C207DCC}"/>
              </a:ext>
            </a:extLst>
          </p:cNvPr>
          <p:cNvSpPr/>
          <p:nvPr/>
        </p:nvSpPr>
        <p:spPr>
          <a:xfrm rot="-853536" flipH="1">
            <a:off x="-1807094" y="8619731"/>
            <a:ext cx="5058535" cy="2668377"/>
          </a:xfrm>
          <a:custGeom>
            <a:avLst/>
            <a:gdLst/>
            <a:ahLst/>
            <a:cxnLst/>
            <a:rect l="l" t="t" r="r" b="b"/>
            <a:pathLst>
              <a:path w="5058535" h="2668377">
                <a:moveTo>
                  <a:pt x="5058535" y="0"/>
                </a:moveTo>
                <a:lnTo>
                  <a:pt x="0" y="0"/>
                </a:lnTo>
                <a:lnTo>
                  <a:pt x="0" y="2668377"/>
                </a:lnTo>
                <a:lnTo>
                  <a:pt x="5058535" y="2668377"/>
                </a:lnTo>
                <a:lnTo>
                  <a:pt x="505853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342D1BD-FF81-7BD9-17D7-440256FFE6F1}"/>
              </a:ext>
            </a:extLst>
          </p:cNvPr>
          <p:cNvSpPr/>
          <p:nvPr/>
        </p:nvSpPr>
        <p:spPr>
          <a:xfrm>
            <a:off x="8610600" y="9791700"/>
            <a:ext cx="914400" cy="3810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76B9DA-8A8E-B7B7-FE2A-41758BF466A0}"/>
              </a:ext>
            </a:extLst>
          </p:cNvPr>
          <p:cNvGrpSpPr/>
          <p:nvPr/>
        </p:nvGrpSpPr>
        <p:grpSpPr>
          <a:xfrm>
            <a:off x="990600" y="1790700"/>
            <a:ext cx="7010400" cy="4572000"/>
            <a:chOff x="990600" y="1790700"/>
            <a:chExt cx="6629400" cy="37444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AB85E80-A3CA-C924-5DEC-8B82CA8B6877}"/>
                </a:ext>
              </a:extLst>
            </p:cNvPr>
            <p:cNvSpPr/>
            <p:nvPr/>
          </p:nvSpPr>
          <p:spPr>
            <a:xfrm>
              <a:off x="990600" y="1790700"/>
              <a:ext cx="6400800" cy="6096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</a:t>
              </a:r>
              <a:r>
                <a:rPr lang="en-US" sz="25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Đã</a:t>
              </a:r>
              <a:r>
                <a:rPr lang="en-US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đạt</a:t>
              </a:r>
              <a:r>
                <a:rPr lang="en-US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endPara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DF989A-7A3F-30E0-ACEE-43B9C9802F80}"/>
                </a:ext>
              </a:extLst>
            </p:cNvPr>
            <p:cNvSpPr/>
            <p:nvPr/>
          </p:nvSpPr>
          <p:spPr>
            <a:xfrm>
              <a:off x="990600" y="2389642"/>
              <a:ext cx="6400800" cy="31455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569783-9802-4244-BB5A-10B93D87802C}"/>
                </a:ext>
              </a:extLst>
            </p:cNvPr>
            <p:cNvSpPr txBox="1"/>
            <p:nvPr/>
          </p:nvSpPr>
          <p:spPr>
            <a:xfrm>
              <a:off x="1143000" y="2542044"/>
              <a:ext cx="6477000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•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Xây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dựng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engine Petri Net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đầy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đủ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
•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Thuật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toán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BFS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phát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hiện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deadlock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chính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xác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
• 8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mô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hình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nghiệp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vụ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thực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tế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
• Giao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diện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trực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quan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hóa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đẹp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
• 20/20 test cases PASS (100%)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D734C0-A512-98D2-A2D9-08A2AE28238A}"/>
              </a:ext>
            </a:extLst>
          </p:cNvPr>
          <p:cNvGrpSpPr/>
          <p:nvPr/>
        </p:nvGrpSpPr>
        <p:grpSpPr>
          <a:xfrm>
            <a:off x="9762359" y="1790700"/>
            <a:ext cx="6849241" cy="4572000"/>
            <a:chOff x="990600" y="1790700"/>
            <a:chExt cx="6629400" cy="37444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69DD7E-DBB7-8EFA-A8B2-35AF44D534A2}"/>
                </a:ext>
              </a:extLst>
            </p:cNvPr>
            <p:cNvSpPr/>
            <p:nvPr/>
          </p:nvSpPr>
          <p:spPr>
            <a:xfrm>
              <a:off x="990600" y="1790700"/>
              <a:ext cx="6400800" cy="6096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🚀 </a:t>
              </a:r>
              <a:r>
                <a:rPr lang="en-US" sz="25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Hướng</a:t>
              </a:r>
              <a:r>
                <a:rPr lang="en-US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phát</a:t>
              </a:r>
              <a:r>
                <a:rPr lang="en-US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5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triển</a:t>
              </a:r>
              <a:endPara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154C761-8FB9-F2C4-AE2D-EA8A4F7A4A47}"/>
                </a:ext>
              </a:extLst>
            </p:cNvPr>
            <p:cNvSpPr/>
            <p:nvPr/>
          </p:nvSpPr>
          <p:spPr>
            <a:xfrm>
              <a:off x="990600" y="2389642"/>
              <a:ext cx="6400800" cy="31455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55C10B-8BF1-05AB-5957-0E3621B0CD4C}"/>
                </a:ext>
              </a:extLst>
            </p:cNvPr>
            <p:cNvSpPr txBox="1"/>
            <p:nvPr/>
          </p:nvSpPr>
          <p:spPr>
            <a:xfrm>
              <a:off x="1143000" y="2542044"/>
              <a:ext cx="6477000" cy="18400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•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Hỗ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trợ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BPMN / WF-net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chuẩn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
• Symbolic model checking (SPIN)
•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Phân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tích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liveness, reachability
• Import/export PNML format
•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Tối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ưu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hóa</a:t>
              </a:r>
              <a:r>
                <a:rPr lang="en-US" sz="28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state-space compression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F38B4E6-B813-1C90-6FD4-5C68799AF904}"/>
              </a:ext>
            </a:extLst>
          </p:cNvPr>
          <p:cNvSpPr txBox="1"/>
          <p:nvPr/>
        </p:nvSpPr>
        <p:spPr>
          <a:xfrm>
            <a:off x="990600" y="6466950"/>
            <a:ext cx="579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8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8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B966A9-7D98-A83E-D6B0-337F2E72DCEC}"/>
              </a:ext>
            </a:extLst>
          </p:cNvPr>
          <p:cNvSpPr/>
          <p:nvPr/>
        </p:nvSpPr>
        <p:spPr>
          <a:xfrm flipV="1">
            <a:off x="1151759" y="7576878"/>
            <a:ext cx="2048641" cy="6434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998456-3BE0-9C5B-334D-0208F7E69A19}"/>
              </a:ext>
            </a:extLst>
          </p:cNvPr>
          <p:cNvSpPr txBox="1"/>
          <p:nvPr/>
        </p:nvSpPr>
        <p:spPr>
          <a:xfrm>
            <a:off x="5486400" y="6771254"/>
            <a:ext cx="101727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Kiểm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chứng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absence of deadlock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bằng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BFS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trên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Petri Net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là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phương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pháp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thức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hiệu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quả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có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thể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tự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động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hóa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hoàn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toàn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và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áp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dụng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trực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tiếp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vào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các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mô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luồng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nghiệp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vụ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phức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tạp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trong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thực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tế</a:t>
            </a:r>
            <a:r>
              <a:rPr lang="en-US" sz="3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49875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1399" y="2690671"/>
            <a:ext cx="3530266" cy="8091846"/>
            <a:chOff x="0" y="0"/>
            <a:chExt cx="929782" cy="21311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9782" cy="2131186"/>
            </a:xfrm>
            <a:custGeom>
              <a:avLst/>
              <a:gdLst/>
              <a:ahLst/>
              <a:cxnLst/>
              <a:rect l="l" t="t" r="r" b="b"/>
              <a:pathLst>
                <a:path w="929782" h="2131186">
                  <a:moveTo>
                    <a:pt x="0" y="0"/>
                  </a:moveTo>
                  <a:lnTo>
                    <a:pt x="929782" y="0"/>
                  </a:lnTo>
                  <a:lnTo>
                    <a:pt x="929782" y="2131186"/>
                  </a:lnTo>
                  <a:lnTo>
                    <a:pt x="0" y="2131186"/>
                  </a:lnTo>
                  <a:close/>
                </a:path>
              </a:pathLst>
            </a:custGeom>
            <a:solidFill>
              <a:srgbClr val="A3B18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29782" cy="2169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222003"/>
            <a:ext cx="8418694" cy="411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63"/>
              </a:lnSpc>
            </a:pPr>
            <a:r>
              <a:rPr lang="en-US" sz="19440" spc="-1224" dirty="0">
                <a:solidFill>
                  <a:srgbClr val="344E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 You.</a:t>
            </a:r>
          </a:p>
        </p:txBody>
      </p:sp>
      <p:sp>
        <p:nvSpPr>
          <p:cNvPr id="7" name="Freeform 7"/>
          <p:cNvSpPr/>
          <p:nvPr/>
        </p:nvSpPr>
        <p:spPr>
          <a:xfrm>
            <a:off x="1469583" y="3877091"/>
            <a:ext cx="8637140" cy="6418326"/>
          </a:xfrm>
          <a:custGeom>
            <a:avLst/>
            <a:gdLst/>
            <a:ahLst/>
            <a:cxnLst/>
            <a:rect l="l" t="t" r="r" b="b"/>
            <a:pathLst>
              <a:path w="8637140" h="6418326">
                <a:moveTo>
                  <a:pt x="0" y="0"/>
                </a:moveTo>
                <a:lnTo>
                  <a:pt x="8637139" y="0"/>
                </a:lnTo>
                <a:lnTo>
                  <a:pt x="8637139" y="6418326"/>
                </a:lnTo>
                <a:lnTo>
                  <a:pt x="0" y="6418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884</Words>
  <Application>Microsoft Office PowerPoint</Application>
  <PresentationFormat>Custom</PresentationFormat>
  <Paragraphs>139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 New Roman</vt:lpstr>
      <vt:lpstr>Helvetica World</vt:lpstr>
      <vt:lpstr>Calibri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Đức Trần</dc:creator>
  <cp:lastModifiedBy>Đức Trần</cp:lastModifiedBy>
  <cp:revision>9</cp:revision>
  <dcterms:created xsi:type="dcterms:W3CDTF">2006-08-16T00:00:00Z</dcterms:created>
  <dcterms:modified xsi:type="dcterms:W3CDTF">2026-03-03T05:35:56Z</dcterms:modified>
  <dc:identifier>DAG7VNVYFks</dc:identifier>
</cp:coreProperties>
</file>